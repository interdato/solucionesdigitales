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7486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yard_right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0"/>
            <a:ext cx="560527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583680" cy="6858000"/>
          </a:xfrm>
          <a:prstGeom prst="rect">
            <a:avLst/>
          </a:prstGeom>
          <a:solidFill>
            <a:srgbClr val="081512"/>
          </a:solidFill>
          <a:ln w="12700">
            <a:solidFill>
              <a:srgbClr val="08151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3880" y="42299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Interdato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66928" y="715602"/>
            <a:ext cx="740664" cy="0"/>
          </a:xfrm>
          <a:prstGeom prst="line">
            <a:avLst/>
          </a:prstGeom>
          <a:noFill/>
          <a:ln w="30480">
            <a:solidFill>
              <a:srgbClr val="69D38F"/>
            </a:solidFill>
            <a:prstDash val="solid"/>
            <a:headEnd type="none"/>
            <a:tailEnd type="none"/>
          </a:ln>
        </p:spPr>
      </p:sp>
      <p:sp>
        <p:nvSpPr>
          <p:cNvPr id="6" name="Text 3"/>
          <p:cNvSpPr/>
          <p:nvPr/>
        </p:nvSpPr>
        <p:spPr>
          <a:xfrm>
            <a:off x="566928" y="123444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8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Soluciones de TI para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logística y transporte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03504" y="2898648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dirty="0">
                <a:solidFill>
                  <a:srgbClr val="BDEECF"/>
                </a:solidFill>
              </a:rPr>
              <a:t>Automatización, trazabilidad, datos e IA para operaciones más controladas.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603505" y="3950208"/>
            <a:ext cx="1504696" cy="329184"/>
          </a:xfrm>
          <a:prstGeom prst="roundRect">
            <a:avLst>
              <a:gd name="adj" fmla="val 22222"/>
            </a:avLst>
          </a:prstGeom>
          <a:solidFill>
            <a:srgbClr val="69D38F"/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4009644"/>
            <a:ext cx="2843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s-MX" sz="1050" b="1" noProof="0" dirty="0">
                <a:solidFill>
                  <a:srgbClr val="081512"/>
                </a:solidFill>
              </a:rPr>
              <a:t>Propuesta comercial</a:t>
            </a:r>
            <a:endParaRPr lang="es-MX" sz="1050" noProof="0" dirty="0"/>
          </a:p>
        </p:txBody>
      </p:sp>
      <p:sp>
        <p:nvSpPr>
          <p:cNvPr id="10" name="Text 7"/>
          <p:cNvSpPr/>
          <p:nvPr/>
        </p:nvSpPr>
        <p:spPr>
          <a:xfrm>
            <a:off x="612648" y="618134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7A8"/>
                </a:solidFill>
              </a:rPr>
              <a:t>Interdato · Monterrey, Nuevo León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i_full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23774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Interdato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1874520" y="365760"/>
            <a:ext cx="502920" cy="0"/>
          </a:xfrm>
          <a:prstGeom prst="line">
            <a:avLst/>
          </a:prstGeom>
          <a:noFill/>
          <a:ln w="30480">
            <a:solidFill>
              <a:srgbClr val="69D38F"/>
            </a:solidFill>
            <a:prstDash val="solid"/>
            <a:headEnd type="none"/>
            <a:tailEnd type="none"/>
          </a:ln>
        </p:spPr>
      </p:sp>
      <p:sp>
        <p:nvSpPr>
          <p:cNvPr id="5" name="Text 2"/>
          <p:cNvSpPr/>
          <p:nvPr/>
        </p:nvSpPr>
        <p:spPr>
          <a:xfrm>
            <a:off x="658368" y="987552"/>
            <a:ext cx="914603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reto no es mover </a:t>
            </a:r>
            <a:r>
              <a:rPr lang="en-US" sz="3100" dirty="0" err="1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</a:t>
            </a:r>
            <a:r>
              <a:rPr lang="en-US" sz="3100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:</a:t>
            </a:r>
            <a:r>
              <a:rPr lang="en-US" sz="3100" dirty="0"/>
              <a:t> </a:t>
            </a:r>
            <a:r>
              <a:rPr lang="en-US" sz="31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 controlar mejor.</a:t>
            </a:r>
            <a:endParaRPr lang="en-US" sz="3100" b="1" dirty="0"/>
          </a:p>
        </p:txBody>
      </p:sp>
      <p:sp>
        <p:nvSpPr>
          <p:cNvPr id="6" name="Text 3"/>
          <p:cNvSpPr/>
          <p:nvPr/>
        </p:nvSpPr>
        <p:spPr>
          <a:xfrm>
            <a:off x="778932" y="1841839"/>
            <a:ext cx="59774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BDEECF"/>
                </a:solidFill>
              </a:rPr>
              <a:t>En logística y transporte, los errores suelen aparecer cuando la información vive en papel, hojas sueltas o sistemas que no conversan entre sí.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3232" y="3264408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9D38F"/>
                </a:solidFill>
              </a:rPr>
              <a:t>01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216152" y="3236976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8F6EF"/>
                </a:solidFill>
              </a:rPr>
              <a:t>Visibilidad incompleta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16152" y="3429000"/>
            <a:ext cx="4892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9FB7A8"/>
                </a:solidFill>
              </a:rPr>
              <a:t>No se sabe con precisión qué pasó, cuándo pasó y quién lo validó.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13232" y="4014216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9D38F"/>
                </a:solidFill>
              </a:rPr>
              <a:t>02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216152" y="3986784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8F6EF"/>
                </a:solidFill>
              </a:rPr>
              <a:t>Procesos manuales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03807" y="4178808"/>
            <a:ext cx="4892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9FB7A8"/>
                </a:solidFill>
              </a:rPr>
              <a:t>Capturas repetidas, formatos impresos y revisiones tardías.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13232" y="4764024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9D38F"/>
                </a:solidFill>
              </a:rPr>
              <a:t>03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16152" y="4736592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8F6EF"/>
                </a:solidFill>
              </a:rPr>
              <a:t>Decisiones reactivas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16152" y="4895935"/>
            <a:ext cx="4892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9FB7A8"/>
                </a:solidFill>
              </a:rPr>
              <a:t>Los datos llegan tarde; los costos e incidencias se detectan después.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84048" y="6473952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9FB7A8"/>
                </a:solidFill>
              </a:rPr>
              <a:t>interdato.com  |  contacto@interdato.com  |  Monterrey, Nuevo León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network_right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658368"/>
            <a:ext cx="5394960" cy="5248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23774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Interdato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1874520" y="365760"/>
            <a:ext cx="502920" cy="0"/>
          </a:xfrm>
          <a:prstGeom prst="line">
            <a:avLst/>
          </a:prstGeom>
          <a:noFill/>
          <a:ln w="30480">
            <a:solidFill>
              <a:srgbClr val="69D38F"/>
            </a:solidFill>
            <a:prstDash val="solid"/>
            <a:headEnd type="none"/>
            <a:tailEnd type="none"/>
          </a:ln>
        </p:spPr>
      </p:sp>
      <p:sp>
        <p:nvSpPr>
          <p:cNvPr id="5" name="Text 2"/>
          <p:cNvSpPr/>
          <p:nvPr/>
        </p:nvSpPr>
        <p:spPr>
          <a:xfrm>
            <a:off x="530352" y="786384"/>
            <a:ext cx="5440680" cy="5852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</a:t>
            </a:r>
            <a:r>
              <a:rPr lang="en-US" sz="3000" b="1" dirty="0" err="1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</a:t>
            </a:r>
            <a:r>
              <a:rPr lang="en-US" sz="30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3000" b="1" dirty="0" err="1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ofrecemos</a:t>
            </a:r>
            <a:r>
              <a:rPr lang="en-US" sz="30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3000" b="1" dirty="0" err="1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</a:t>
            </a:r>
            <a:r>
              <a:rPr lang="en-US" sz="30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Interdato?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426464"/>
            <a:ext cx="5321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BDEECF"/>
                </a:solidFill>
              </a:rPr>
              <a:t>Soluciones digitales con enfoque operativo, medible y sostenible.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58368" y="2157984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9D38F"/>
                </a:solidFill>
              </a:rPr>
              <a:t>01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161288" y="21305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8F6EF"/>
                </a:solidFill>
              </a:rPr>
              <a:t>Sistemas a la medida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61288" y="2441448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9FB7A8"/>
                </a:solidFill>
              </a:rPr>
              <a:t>Aplicaciones web para capturar, controlar y operar procesos internos.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58368" y="2953512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9D38F"/>
                </a:solidFill>
              </a:rPr>
              <a:t>02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161288" y="29260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8F6EF"/>
                </a:solidFill>
              </a:rPr>
              <a:t>Trazabilidad QR / códigos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3236976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9FB7A8"/>
                </a:solidFill>
              </a:rPr>
              <a:t>Seguimiento de activos, pallets, documentos, órdenes y evidencias.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8368" y="3749040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9D38F"/>
                </a:solidFill>
              </a:rPr>
              <a:t>03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161288" y="372160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8F6EF"/>
                </a:solidFill>
              </a:rPr>
              <a:t>Dashboards y datos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61288" y="4032504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9FB7A8"/>
                </a:solidFill>
              </a:rPr>
              <a:t>Indicadores de operación, cumplimiento, costos e incidencias.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58368" y="4544568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9D38F"/>
                </a:solidFill>
              </a:rPr>
              <a:t>04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161288" y="45171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8F6EF"/>
                </a:solidFill>
              </a:rPr>
              <a:t>Integraciones + IA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161288" y="4828032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9FB7A8"/>
                </a:solidFill>
              </a:rPr>
              <a:t>Conectar sistemas y sumar automatización, alertas e inteligencia visual.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565392" y="5513832"/>
            <a:ext cx="4983480" cy="329184"/>
          </a:xfrm>
          <a:prstGeom prst="roundRect">
            <a:avLst>
              <a:gd name="adj" fmla="val 22222"/>
            </a:avLst>
          </a:prstGeom>
          <a:solidFill>
            <a:srgbClr val="69D38F"/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75120" y="557326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81512"/>
                </a:solidFill>
              </a:rPr>
              <a:t>Objetivo: menos fricción operativa + más trazabilidad + mejores decisiones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384048" y="6473952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9FB7A8"/>
                </a:solidFill>
              </a:rPr>
              <a:t>interdato.com  |  contacto@interdato.com  |  Monterrey, Nuevo León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Interdato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874520" y="365760"/>
            <a:ext cx="502920" cy="0"/>
          </a:xfrm>
          <a:prstGeom prst="line">
            <a:avLst/>
          </a:prstGeom>
          <a:noFill/>
          <a:ln w="30480">
            <a:solidFill>
              <a:srgbClr val="69D38F"/>
            </a:solidFill>
            <a:prstDash val="solid"/>
            <a:headEnd type="none"/>
            <a:tailEnd type="none"/>
          </a:ln>
        </p:spPr>
      </p:sp>
      <p:sp>
        <p:nvSpPr>
          <p:cNvPr id="4" name="Text 2"/>
          <p:cNvSpPr/>
          <p:nvPr/>
        </p:nvSpPr>
        <p:spPr>
          <a:xfrm>
            <a:off x="530352" y="786384"/>
            <a:ext cx="5440680" cy="5852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Sistemas a la medida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426464"/>
            <a:ext cx="6016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BDEECF"/>
                </a:solidFill>
              </a:rPr>
              <a:t>Tecnología diseñada alrededor de los procesos reales de tu empresa.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510029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MX" sz="1300" b="1" noProof="0" dirty="0">
                <a:solidFill>
                  <a:srgbClr val="69D38F"/>
                </a:solidFill>
              </a:rPr>
              <a:t>Casos donde aplica:</a:t>
            </a:r>
            <a:endParaRPr lang="es-MX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768096" y="2944368"/>
            <a:ext cx="4297680" cy="329184"/>
          </a:xfrm>
          <a:prstGeom prst="roundRect">
            <a:avLst>
              <a:gd name="adj" fmla="val 22222"/>
            </a:avLst>
          </a:prstGeom>
          <a:solidFill>
            <a:srgbClr val="202C27"/>
          </a:solidFill>
          <a:ln w="12700">
            <a:solidFill>
              <a:srgbClr val="2C40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7824" y="3003804"/>
            <a:ext cx="4078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8F6EF"/>
                </a:solidFill>
              </a:rPr>
              <a:t>Control de órdenes y servicios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68096" y="3383280"/>
            <a:ext cx="4297680" cy="329184"/>
          </a:xfrm>
          <a:prstGeom prst="roundRect">
            <a:avLst>
              <a:gd name="adj" fmla="val 22222"/>
            </a:avLst>
          </a:prstGeom>
          <a:solidFill>
            <a:srgbClr val="202C27"/>
          </a:solidFill>
          <a:ln w="12700">
            <a:solidFill>
              <a:srgbClr val="2C40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442716"/>
            <a:ext cx="4078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8F6EF"/>
                </a:solidFill>
              </a:rPr>
              <a:t>Bitácoras de unidades y mantenimientos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68096" y="3822192"/>
            <a:ext cx="4297680" cy="329184"/>
          </a:xfrm>
          <a:prstGeom prst="roundRect">
            <a:avLst>
              <a:gd name="adj" fmla="val 22222"/>
            </a:avLst>
          </a:prstGeom>
          <a:solidFill>
            <a:srgbClr val="202C27"/>
          </a:solidFill>
          <a:ln w="12700">
            <a:solidFill>
              <a:srgbClr val="2C40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3881628"/>
            <a:ext cx="4078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8F6EF"/>
                </a:solidFill>
              </a:rPr>
              <a:t>Gestión de evidencias y documentación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8096" y="4261104"/>
            <a:ext cx="4297680" cy="329184"/>
          </a:xfrm>
          <a:prstGeom prst="roundRect">
            <a:avLst>
              <a:gd name="adj" fmla="val 22222"/>
            </a:avLst>
          </a:prstGeom>
          <a:solidFill>
            <a:srgbClr val="202C27"/>
          </a:solidFill>
          <a:ln w="12700">
            <a:solidFill>
              <a:srgbClr val="2C40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4320540"/>
            <a:ext cx="4078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s-MX" sz="1050" noProof="0" dirty="0">
                <a:solidFill>
                  <a:srgbClr val="F8F6EF"/>
                </a:solidFill>
              </a:rPr>
              <a:t>Portales</a:t>
            </a:r>
            <a:r>
              <a:rPr lang="en-US" sz="1050" dirty="0">
                <a:solidFill>
                  <a:srgbClr val="F8F6EF"/>
                </a:solidFill>
              </a:rPr>
              <a:t> para clientes o proveedores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68096" y="4700016"/>
            <a:ext cx="4297680" cy="329184"/>
          </a:xfrm>
          <a:prstGeom prst="roundRect">
            <a:avLst>
              <a:gd name="adj" fmla="val 22222"/>
            </a:avLst>
          </a:prstGeom>
          <a:solidFill>
            <a:srgbClr val="202C27"/>
          </a:solidFill>
          <a:ln w="12700">
            <a:solidFill>
              <a:srgbClr val="2C40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4759452"/>
            <a:ext cx="4078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8F6EF"/>
                </a:solidFill>
              </a:rPr>
              <a:t>Roles, permisos y flujos de aprobación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47104" y="4279392"/>
            <a:ext cx="502920" cy="0"/>
          </a:xfrm>
          <a:prstGeom prst="line">
            <a:avLst/>
          </a:prstGeom>
          <a:noFill/>
          <a:ln w="20320">
            <a:solidFill>
              <a:srgbClr val="69D38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872984" y="4279392"/>
            <a:ext cx="502920" cy="0"/>
          </a:xfrm>
          <a:prstGeom prst="line">
            <a:avLst/>
          </a:prstGeom>
          <a:noFill/>
          <a:ln w="20320">
            <a:solidFill>
              <a:srgbClr val="69D38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198864" y="4279392"/>
            <a:ext cx="502920" cy="0"/>
          </a:xfrm>
          <a:prstGeom prst="line">
            <a:avLst/>
          </a:prstGeom>
          <a:noFill/>
          <a:ln w="20320">
            <a:solidFill>
              <a:srgbClr val="69D38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87568" y="3703320"/>
            <a:ext cx="987552" cy="1152144"/>
          </a:xfrm>
          <a:prstGeom prst="roundRect">
            <a:avLst>
              <a:gd name="adj" fmla="val 7407"/>
            </a:avLst>
          </a:prstGeom>
          <a:solidFill>
            <a:srgbClr val="69D38F"/>
          </a:solidFill>
          <a:ln w="13970">
            <a:solidFill>
              <a:srgbClr val="69D38F"/>
            </a:solidFill>
            <a:prstDash val="solid"/>
          </a:ln>
          <a:effectLst>
            <a:outerShdw blurRad="12700" dist="127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769864" y="3950208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081512"/>
                </a:solidFill>
              </a:rPr>
              <a:t>Captura</a:t>
            </a:r>
            <a:endParaRPr lang="en-US" sz="1030" dirty="0"/>
          </a:p>
        </p:txBody>
      </p:sp>
      <p:sp>
        <p:nvSpPr>
          <p:cNvPr id="22" name="Text 20"/>
          <p:cNvSpPr/>
          <p:nvPr/>
        </p:nvSpPr>
        <p:spPr>
          <a:xfrm>
            <a:off x="5779008" y="4233672"/>
            <a:ext cx="804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081512"/>
                </a:solidFill>
              </a:rPr>
              <a:t>App / formulario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7013448" y="3703320"/>
            <a:ext cx="987552" cy="1152144"/>
          </a:xfrm>
          <a:prstGeom prst="roundRect">
            <a:avLst>
              <a:gd name="adj" fmla="val 7407"/>
            </a:avLst>
          </a:prstGeom>
          <a:solidFill>
            <a:srgbClr val="0D1D18"/>
          </a:solidFill>
          <a:ln w="13970">
            <a:solidFill>
              <a:srgbClr val="69D38F"/>
            </a:solidFill>
            <a:prstDash val="solid"/>
          </a:ln>
          <a:effectLst>
            <a:outerShdw blurRad="12700" dist="127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095744" y="3950208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F8F6EF"/>
                </a:solidFill>
              </a:rPr>
              <a:t>Validación</a:t>
            </a:r>
            <a:endParaRPr lang="en-US" sz="1030" dirty="0"/>
          </a:p>
        </p:txBody>
      </p:sp>
      <p:sp>
        <p:nvSpPr>
          <p:cNvPr id="25" name="Text 23"/>
          <p:cNvSpPr/>
          <p:nvPr/>
        </p:nvSpPr>
        <p:spPr>
          <a:xfrm>
            <a:off x="7104888" y="4233672"/>
            <a:ext cx="804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9FB7A8"/>
                </a:solidFill>
              </a:rPr>
              <a:t>Reglas y permisos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8339328" y="3703320"/>
            <a:ext cx="987552" cy="1152144"/>
          </a:xfrm>
          <a:prstGeom prst="roundRect">
            <a:avLst>
              <a:gd name="adj" fmla="val 7407"/>
            </a:avLst>
          </a:prstGeom>
          <a:solidFill>
            <a:srgbClr val="0D1D18"/>
          </a:solidFill>
          <a:ln w="13970">
            <a:solidFill>
              <a:srgbClr val="69D38F"/>
            </a:solidFill>
            <a:prstDash val="solid"/>
          </a:ln>
          <a:effectLst>
            <a:outerShdw blurRad="12700" dist="127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21624" y="3950208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F8F6EF"/>
                </a:solidFill>
              </a:rPr>
              <a:t>Operación</a:t>
            </a:r>
            <a:endParaRPr lang="en-US" sz="1030" dirty="0"/>
          </a:p>
        </p:txBody>
      </p:sp>
      <p:sp>
        <p:nvSpPr>
          <p:cNvPr id="28" name="Text 26"/>
          <p:cNvSpPr/>
          <p:nvPr/>
        </p:nvSpPr>
        <p:spPr>
          <a:xfrm>
            <a:off x="8430768" y="4233672"/>
            <a:ext cx="804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9FB7A8"/>
                </a:solidFill>
              </a:rPr>
              <a:t>Flujo interno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9665208" y="3703320"/>
            <a:ext cx="987552" cy="1152144"/>
          </a:xfrm>
          <a:prstGeom prst="roundRect">
            <a:avLst>
              <a:gd name="adj" fmla="val 7407"/>
            </a:avLst>
          </a:prstGeom>
          <a:solidFill>
            <a:srgbClr val="0D1D18"/>
          </a:solidFill>
          <a:ln w="13970">
            <a:solidFill>
              <a:srgbClr val="69D38F"/>
            </a:solidFill>
            <a:prstDash val="solid"/>
          </a:ln>
          <a:effectLst>
            <a:outerShdw blurRad="12700" dist="127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747504" y="3950208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F8F6EF"/>
                </a:solidFill>
              </a:rPr>
              <a:t>Reporte</a:t>
            </a:r>
            <a:endParaRPr lang="en-US" sz="1030" dirty="0"/>
          </a:p>
        </p:txBody>
      </p:sp>
      <p:sp>
        <p:nvSpPr>
          <p:cNvPr id="31" name="Text 29"/>
          <p:cNvSpPr/>
          <p:nvPr/>
        </p:nvSpPr>
        <p:spPr>
          <a:xfrm>
            <a:off x="9756648" y="4233672"/>
            <a:ext cx="804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9FB7A8"/>
                </a:solidFill>
              </a:rPr>
              <a:t>Datos accionables</a:t>
            </a:r>
            <a:endParaRPr lang="en-US" sz="780" dirty="0"/>
          </a:p>
        </p:txBody>
      </p:sp>
      <p:sp>
        <p:nvSpPr>
          <p:cNvPr id="32" name="Text 30"/>
          <p:cNvSpPr/>
          <p:nvPr/>
        </p:nvSpPr>
        <p:spPr>
          <a:xfrm>
            <a:off x="5760720" y="25968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9D38F"/>
                </a:solidFill>
              </a:rPr>
              <a:t>Resultado esperado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60720" y="290779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F8F6EF"/>
                </a:solidFill>
              </a:rPr>
              <a:t>Un sistema que reduce capturas repetidas, ordena responsabilidades y deja evidencia de cada paso importante.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84048" y="6473952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9FB7A8"/>
                </a:solidFill>
              </a:rPr>
              <a:t>interdato.com  |  contacto@interdato.com  |  Monterrey, Nuevo León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scan_left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23774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Interdato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1874520" y="365760"/>
            <a:ext cx="502920" cy="0"/>
          </a:xfrm>
          <a:prstGeom prst="line">
            <a:avLst/>
          </a:prstGeom>
          <a:noFill/>
          <a:ln w="30480">
            <a:solidFill>
              <a:srgbClr val="69D38F"/>
            </a:solidFill>
            <a:prstDash val="solid"/>
            <a:headEnd type="none"/>
            <a:tailEnd type="none"/>
          </a:ln>
        </p:spPr>
      </p:sp>
      <p:sp>
        <p:nvSpPr>
          <p:cNvPr id="5" name="Text 2"/>
          <p:cNvSpPr/>
          <p:nvPr/>
        </p:nvSpPr>
        <p:spPr>
          <a:xfrm>
            <a:off x="5806440" y="841248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Trazabilidad con QR</a:t>
            </a:r>
            <a:endParaRPr lang="en-US" sz="2900" dirty="0"/>
          </a:p>
          <a:p>
            <a:pPr marL="0" indent="0">
              <a:buNone/>
            </a:pPr>
            <a:r>
              <a:rPr lang="en-US" sz="29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 códigos de barras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5833872" y="18288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BDEECF"/>
                </a:solidFill>
              </a:rPr>
              <a:t>Convierte cada escaneo en evidencia: ubicación, responsable, hora, estado y documentación asociada.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870448" y="2816352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9D38F"/>
                </a:solidFill>
              </a:rPr>
              <a:t>01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373368" y="278892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8F6EF"/>
                </a:solidFill>
              </a:rPr>
              <a:t>Pallets y paquetes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373368" y="3099816"/>
            <a:ext cx="4526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9FB7A8"/>
                </a:solidFill>
              </a:rPr>
              <a:t>Entradas, salidas, cambios de estado y ubicación.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870448" y="3602736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9D38F"/>
                </a:solidFill>
              </a:rPr>
              <a:t>02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373368" y="3575304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8F6EF"/>
                </a:solidFill>
              </a:rPr>
              <a:t>Unidades y activos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373368" y="3886200"/>
            <a:ext cx="4526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9FB7A8"/>
                </a:solidFill>
              </a:rPr>
              <a:t>Historial de mantenimiento, inspecciones y responsables.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870448" y="4389120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9D38F"/>
                </a:solidFill>
              </a:rPr>
              <a:t>03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373368" y="436168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8F6EF"/>
                </a:solidFill>
              </a:rPr>
              <a:t>Evidencia digital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373368" y="4672584"/>
            <a:ext cx="4526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9FB7A8"/>
                </a:solidFill>
              </a:rPr>
              <a:t>Fotos, firmas, documentos y validaciones en campo.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870448" y="5577840"/>
            <a:ext cx="4298019" cy="329184"/>
          </a:xfrm>
          <a:prstGeom prst="roundRect">
            <a:avLst>
              <a:gd name="adj" fmla="val 22222"/>
            </a:avLst>
          </a:prstGeom>
          <a:solidFill>
            <a:srgbClr val="69D38F"/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0176" y="5637276"/>
            <a:ext cx="4901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81512"/>
                </a:solidFill>
              </a:rPr>
              <a:t>Ejemplo: control de entregas internas con QR + evidencia fotográfica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870448" y="647395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9FB7A8"/>
                </a:solidFill>
              </a:rPr>
              <a:t>interdato.com  |  contacto@interdato.com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command_full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23774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Interdato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1874520" y="365760"/>
            <a:ext cx="502920" cy="0"/>
          </a:xfrm>
          <a:prstGeom prst="line">
            <a:avLst/>
          </a:prstGeom>
          <a:noFill/>
          <a:ln w="30480">
            <a:solidFill>
              <a:srgbClr val="69D38F"/>
            </a:solidFill>
            <a:prstDash val="solid"/>
            <a:headEnd type="none"/>
            <a:tailEnd type="none"/>
          </a:ln>
        </p:spPr>
      </p:sp>
      <p:sp>
        <p:nvSpPr>
          <p:cNvPr id="5" name="Text 2"/>
          <p:cNvSpPr/>
          <p:nvPr/>
        </p:nvSpPr>
        <p:spPr>
          <a:xfrm>
            <a:off x="658368" y="86868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Dashboards para dirigir con datos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1197187" y="1325880"/>
            <a:ext cx="72813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s-MX" sz="1430" noProof="0" dirty="0">
                <a:solidFill>
                  <a:srgbClr val="BDEECF"/>
                </a:solidFill>
              </a:rPr>
              <a:t>Tableros claros y con alertamiento personalizado.</a:t>
            </a:r>
            <a:endParaRPr lang="es-MX" sz="1430" noProof="0" dirty="0"/>
          </a:p>
        </p:txBody>
      </p:sp>
      <p:sp>
        <p:nvSpPr>
          <p:cNvPr id="7" name="Shape 4"/>
          <p:cNvSpPr/>
          <p:nvPr/>
        </p:nvSpPr>
        <p:spPr>
          <a:xfrm>
            <a:off x="713232" y="5001768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202C27">
              <a:alpha val="97000"/>
            </a:srgbClr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061204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F8F6EF"/>
                </a:solidFill>
              </a:rPr>
              <a:t>Entregas a tiempo</a:t>
            </a:r>
            <a:endParaRPr lang="en-US" sz="920" dirty="0"/>
          </a:p>
        </p:txBody>
      </p:sp>
      <p:sp>
        <p:nvSpPr>
          <p:cNvPr id="9" name="Shape 6"/>
          <p:cNvSpPr/>
          <p:nvPr/>
        </p:nvSpPr>
        <p:spPr>
          <a:xfrm>
            <a:off x="2587752" y="5001768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202C27">
              <a:alpha val="97000"/>
            </a:srgbClr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697480" y="5061204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F8F6EF"/>
                </a:solidFill>
              </a:rPr>
              <a:t>Costos por ruta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4462272" y="5001768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202C27">
              <a:alpha val="97000"/>
            </a:srgbClr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0" y="5061204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F8F6EF"/>
                </a:solidFill>
              </a:rPr>
              <a:t>Tiempos muertos</a:t>
            </a:r>
            <a:endParaRPr lang="en-US" sz="920" dirty="0"/>
          </a:p>
        </p:txBody>
      </p:sp>
      <p:sp>
        <p:nvSpPr>
          <p:cNvPr id="13" name="Shape 10"/>
          <p:cNvSpPr/>
          <p:nvPr/>
        </p:nvSpPr>
        <p:spPr>
          <a:xfrm>
            <a:off x="713232" y="5440680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202C27">
              <a:alpha val="97000"/>
            </a:srgbClr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550011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F8F6EF"/>
                </a:solidFill>
              </a:rPr>
              <a:t>Incidencias</a:t>
            </a:r>
            <a:endParaRPr lang="en-US" sz="920" dirty="0"/>
          </a:p>
        </p:txBody>
      </p:sp>
      <p:sp>
        <p:nvSpPr>
          <p:cNvPr id="15" name="Shape 12"/>
          <p:cNvSpPr/>
          <p:nvPr/>
        </p:nvSpPr>
        <p:spPr>
          <a:xfrm>
            <a:off x="2587752" y="5440680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202C27">
              <a:alpha val="97000"/>
            </a:srgbClr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697480" y="550011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F8F6EF"/>
                </a:solidFill>
              </a:rPr>
              <a:t>Productividad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4462272" y="5440680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202C27">
              <a:alpha val="97000"/>
            </a:srgbClr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0" y="550011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F8F6EF"/>
                </a:solidFill>
              </a:rPr>
              <a:t>Inventario crítico</a:t>
            </a:r>
            <a:endParaRPr lang="en-US" sz="920" dirty="0"/>
          </a:p>
        </p:txBody>
      </p:sp>
      <p:sp>
        <p:nvSpPr>
          <p:cNvPr id="19" name="Text 16"/>
          <p:cNvSpPr/>
          <p:nvPr/>
        </p:nvSpPr>
        <p:spPr>
          <a:xfrm>
            <a:off x="731520" y="596188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7A8"/>
                </a:solidFill>
              </a:rPr>
              <a:t>Se pueden construir en Power BI o como dashboard web según el caso.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84048" y="6473952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9FB7A8"/>
                </a:solidFill>
              </a:rPr>
              <a:t>interdato.com  |  contacto@interdato.com  |  Monterrey, Nuevo León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network_full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23774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Interdato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1874520" y="365760"/>
            <a:ext cx="502920" cy="0"/>
          </a:xfrm>
          <a:prstGeom prst="line">
            <a:avLst/>
          </a:prstGeom>
          <a:noFill/>
          <a:ln w="30480">
            <a:solidFill>
              <a:srgbClr val="69D38F"/>
            </a:solidFill>
            <a:prstDash val="solid"/>
            <a:headEnd type="none"/>
            <a:tailEnd type="none"/>
          </a:ln>
        </p:spPr>
      </p:sp>
      <p:sp>
        <p:nvSpPr>
          <p:cNvPr id="5" name="Text 2"/>
          <p:cNvSpPr/>
          <p:nvPr/>
        </p:nvSpPr>
        <p:spPr>
          <a:xfrm>
            <a:off x="658368" y="841248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Integraciones y automatización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960120" y="1516887"/>
            <a:ext cx="587959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MX" sz="1600" noProof="0" dirty="0">
                <a:solidFill>
                  <a:schemeClr val="bg1"/>
                </a:solidFill>
              </a:rPr>
              <a:t>El valor aumenta cuando los sistemas dejan de vivir aislados. Somos expertos en proyectos de Interoperabilidad Tecnológica.</a:t>
            </a:r>
          </a:p>
        </p:txBody>
      </p:sp>
      <p:sp>
        <p:nvSpPr>
          <p:cNvPr id="7" name="Shape 4"/>
          <p:cNvSpPr/>
          <p:nvPr/>
        </p:nvSpPr>
        <p:spPr>
          <a:xfrm>
            <a:off x="960120" y="2834640"/>
            <a:ext cx="1444752" cy="329184"/>
          </a:xfrm>
          <a:prstGeom prst="roundRect">
            <a:avLst>
              <a:gd name="adj" fmla="val 22222"/>
            </a:avLst>
          </a:prstGeom>
          <a:solidFill>
            <a:srgbClr val="202C27"/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69848" y="289407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8F6EF"/>
                </a:solidFill>
              </a:rPr>
              <a:t>ERP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834640" y="2487168"/>
            <a:ext cx="1444752" cy="329184"/>
          </a:xfrm>
          <a:prstGeom prst="roundRect">
            <a:avLst>
              <a:gd name="adj" fmla="val 22222"/>
            </a:avLst>
          </a:prstGeom>
          <a:solidFill>
            <a:srgbClr val="202C27"/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944368" y="254660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8F6EF"/>
                </a:solidFill>
              </a:rPr>
              <a:t>CRM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663440" y="2834640"/>
            <a:ext cx="1444752" cy="329184"/>
          </a:xfrm>
          <a:prstGeom prst="roundRect">
            <a:avLst>
              <a:gd name="adj" fmla="val 22222"/>
            </a:avLst>
          </a:prstGeom>
          <a:solidFill>
            <a:srgbClr val="202C27"/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73168" y="289407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8F6EF"/>
                </a:solidFill>
              </a:rPr>
              <a:t>WhatsApp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492240" y="2487168"/>
            <a:ext cx="1444752" cy="329184"/>
          </a:xfrm>
          <a:prstGeom prst="roundRect">
            <a:avLst>
              <a:gd name="adj" fmla="val 22222"/>
            </a:avLst>
          </a:prstGeom>
          <a:solidFill>
            <a:srgbClr val="202C27"/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601968" y="254660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8F6EF"/>
                </a:solidFill>
              </a:rPr>
              <a:t>Correo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21040" y="2834640"/>
            <a:ext cx="1444752" cy="329184"/>
          </a:xfrm>
          <a:prstGeom prst="roundRect">
            <a:avLst>
              <a:gd name="adj" fmla="val 22222"/>
            </a:avLst>
          </a:prstGeom>
          <a:solidFill>
            <a:srgbClr val="202C27"/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30768" y="289407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8F6EF"/>
                </a:solidFill>
              </a:rPr>
              <a:t>GPS / Telemática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0" y="4480560"/>
            <a:ext cx="1444752" cy="329184"/>
          </a:xfrm>
          <a:prstGeom prst="roundRect">
            <a:avLst>
              <a:gd name="adj" fmla="val 22222"/>
            </a:avLst>
          </a:prstGeom>
          <a:solidFill>
            <a:srgbClr val="202C27"/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81728" y="453999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8F6EF"/>
                </a:solidFill>
              </a:rPr>
              <a:t>Bases de datos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533821" y="5431537"/>
            <a:ext cx="934584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APIs · Webhooks · Reportes automáticos · Alertas · Validaciones · Migraciones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0" name="Text 17"/>
          <p:cNvSpPr/>
          <p:nvPr/>
        </p:nvSpPr>
        <p:spPr>
          <a:xfrm>
            <a:off x="384048" y="6473952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9FB7A8"/>
                </a:solidFill>
              </a:rPr>
              <a:t>interdato.com  |  contacto@interdato.com  |  Monterrey, Nuevo León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i_right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0"/>
            <a:ext cx="574243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23774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Interdato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1874520" y="365760"/>
            <a:ext cx="502920" cy="0"/>
          </a:xfrm>
          <a:prstGeom prst="line">
            <a:avLst/>
          </a:prstGeom>
          <a:noFill/>
          <a:ln w="30480">
            <a:solidFill>
              <a:srgbClr val="69D38F"/>
            </a:solidFill>
            <a:prstDash val="solid"/>
            <a:headEnd type="none"/>
            <a:tailEnd type="none"/>
          </a:ln>
        </p:spPr>
      </p:sp>
      <p:sp>
        <p:nvSpPr>
          <p:cNvPr id="5" name="Text 2"/>
          <p:cNvSpPr/>
          <p:nvPr/>
        </p:nvSpPr>
        <p:spPr>
          <a:xfrm>
            <a:off x="530352" y="786384"/>
            <a:ext cx="5440680" cy="5852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</a:t>
            </a:r>
            <a:r>
              <a:rPr lang="en-US" sz="28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con cámaras para almacén y patio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34924" y="1298448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BDEECF"/>
                </a:solidFill>
              </a:rPr>
              <a:t>Aplicaciones visuales para detectar, contar, alertar y documentar eventos.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2359152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9D38F"/>
                </a:solidFill>
              </a:rPr>
              <a:t>01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161288" y="233172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8F6EF"/>
                </a:solidFill>
              </a:rPr>
              <a:t>Racks e inventario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61288" y="2541524"/>
            <a:ext cx="5074919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9FB7A8"/>
                </a:solidFill>
              </a:rPr>
              <a:t>Detección visual de ocupación, ubicación o anomalías en anaqueles industriales.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58368" y="3182112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9D38F"/>
                </a:solidFill>
              </a:rPr>
              <a:t>02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161288" y="315468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8F6EF"/>
                </a:solidFill>
              </a:rPr>
              <a:t>EPP y seguridad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3323336"/>
            <a:ext cx="46634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9FB7A8"/>
                </a:solidFill>
              </a:rPr>
              <a:t>Validación de chaleco, casco o acceso a zonas restringidas.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8368" y="4005072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9D38F"/>
                </a:solidFill>
              </a:rPr>
              <a:t>03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161288" y="39776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8F6EF"/>
                </a:solidFill>
              </a:rPr>
              <a:t>Anomalías operativas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61288" y="4169664"/>
            <a:ext cx="46634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9FB7A8"/>
                </a:solidFill>
              </a:rPr>
              <a:t>Alertas por permanencia, bloqueo de zonas, conteo o movimiento inusual.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58368" y="5440680"/>
            <a:ext cx="5074920" cy="329184"/>
          </a:xfrm>
          <a:prstGeom prst="roundRect">
            <a:avLst>
              <a:gd name="adj" fmla="val 22222"/>
            </a:avLst>
          </a:prstGeom>
          <a:solidFill>
            <a:srgbClr val="69D38F"/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8096" y="5500116"/>
            <a:ext cx="4855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081512"/>
                </a:solidFill>
              </a:rPr>
              <a:t>El piloto puede iniciar con cámaras existentes si cuentan con RTSP/ONVIF.</a:t>
            </a:r>
            <a:endParaRPr lang="en-US" sz="980" dirty="0"/>
          </a:p>
        </p:txBody>
      </p:sp>
      <p:sp>
        <p:nvSpPr>
          <p:cNvPr id="18" name="Text 15"/>
          <p:cNvSpPr/>
          <p:nvPr/>
        </p:nvSpPr>
        <p:spPr>
          <a:xfrm>
            <a:off x="384048" y="6473952"/>
            <a:ext cx="5760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9FB7A8"/>
                </a:solidFill>
              </a:rPr>
              <a:t>interdato.com  |  contacto@interdato.com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Interdato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874520" y="365760"/>
            <a:ext cx="502920" cy="0"/>
          </a:xfrm>
          <a:prstGeom prst="line">
            <a:avLst/>
          </a:prstGeom>
          <a:noFill/>
          <a:ln w="30480">
            <a:solidFill>
              <a:srgbClr val="69D38F"/>
            </a:solidFill>
            <a:prstDash val="solid"/>
            <a:headEnd type="none"/>
            <a:tailEnd type="none"/>
          </a:ln>
        </p:spPr>
      </p:sp>
      <p:sp>
        <p:nvSpPr>
          <p:cNvPr id="4" name="Text 2"/>
          <p:cNvSpPr/>
          <p:nvPr/>
        </p:nvSpPr>
        <p:spPr>
          <a:xfrm>
            <a:off x="530352" y="786384"/>
            <a:ext cx="5440680" cy="5852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Ruta de implementación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426464"/>
            <a:ext cx="6254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BDEECF"/>
                </a:solidFill>
              </a:rPr>
              <a:t>Una forma simple de iniciar sin comprar un sistema enorme desde el día uno.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1417320" y="3246120"/>
            <a:ext cx="8778240" cy="0"/>
          </a:xfrm>
          <a:prstGeom prst="line">
            <a:avLst/>
          </a:prstGeom>
          <a:noFill/>
          <a:ln w="27940">
            <a:solidFill>
              <a:srgbClr val="69D3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633472"/>
            <a:ext cx="1234440" cy="1234440"/>
          </a:xfrm>
          <a:prstGeom prst="ellipse">
            <a:avLst/>
          </a:prstGeom>
          <a:solidFill>
            <a:srgbClr val="69D38F"/>
          </a:solidFill>
          <a:ln w="19050">
            <a:solidFill>
              <a:srgbClr val="69D3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43584" y="3131820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81512"/>
                </a:solidFill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2519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8F6EF"/>
                </a:solidFill>
              </a:rPr>
              <a:t>Diagnóstico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4608576"/>
            <a:ext cx="205740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9FB7A8"/>
                </a:solidFill>
              </a:rPr>
              <a:t>Mapear proceso, datos, sistemas y puntos de fricción.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749040" y="2633472"/>
            <a:ext cx="1234440" cy="1234440"/>
          </a:xfrm>
          <a:prstGeom prst="ellipse">
            <a:avLst/>
          </a:prstGeom>
          <a:solidFill>
            <a:srgbClr val="0D1D18"/>
          </a:solidFill>
          <a:ln w="19050">
            <a:solidFill>
              <a:srgbClr val="69D3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32504" y="3140964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8F6EF"/>
                </a:solidFill>
              </a:rPr>
              <a:t>02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520440" y="42519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8F6EF"/>
                </a:solidFill>
              </a:rPr>
              <a:t>Piloto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337560" y="4608576"/>
            <a:ext cx="205740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9FB7A8"/>
                </a:solidFill>
              </a:rPr>
              <a:t>Resolver un caso de uso pequeño, medible y visible.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2633472"/>
            <a:ext cx="1234440" cy="1234440"/>
          </a:xfrm>
          <a:prstGeom prst="ellipse">
            <a:avLst/>
          </a:prstGeom>
          <a:solidFill>
            <a:srgbClr val="0D1D18"/>
          </a:solidFill>
          <a:ln w="19050">
            <a:solidFill>
              <a:srgbClr val="69D3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21424" y="3140964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8F6EF"/>
                </a:solidFill>
              </a:rPr>
              <a:t>03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309360" y="42519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8F6EF"/>
                </a:solidFill>
              </a:rPr>
              <a:t>Sistema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126480" y="4608576"/>
            <a:ext cx="205740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9FB7A8"/>
                </a:solidFill>
              </a:rPr>
              <a:t>Escalar a roles, módulos, integraciones y reportes.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326880" y="2633472"/>
            <a:ext cx="1234440" cy="1234440"/>
          </a:xfrm>
          <a:prstGeom prst="ellipse">
            <a:avLst/>
          </a:prstGeom>
          <a:solidFill>
            <a:srgbClr val="0D1D18"/>
          </a:solidFill>
          <a:ln w="19050">
            <a:solidFill>
              <a:srgbClr val="69D3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10344" y="3131820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8F6EF"/>
                </a:solidFill>
              </a:rPr>
              <a:t>04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098280" y="42519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8F6EF"/>
                </a:solidFill>
              </a:rPr>
              <a:t>Mejora continua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915400" y="4608576"/>
            <a:ext cx="205740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9FB7A8"/>
                </a:solidFill>
              </a:rPr>
              <a:t>Soporte, nuevas funciones, automatizaciones y métricas.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441448" y="5774436"/>
            <a:ext cx="7370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81512"/>
                </a:solidFill>
              </a:rPr>
              <a:t>Sugerencia comercial: ofrecer un diagnóstico + piloto como primer paso de bajo riesgo.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84048" y="6473952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9FB7A8"/>
                </a:solidFill>
              </a:rPr>
              <a:t>interdato.com  |  contacto@interdato.com  |  Monterrey, Nuevo León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yard_full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244348"/>
            <a:ext cx="8266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Interdato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384047" y="568960"/>
            <a:ext cx="826685" cy="0"/>
          </a:xfrm>
          <a:prstGeom prst="line">
            <a:avLst/>
          </a:prstGeom>
          <a:noFill/>
          <a:ln w="30480">
            <a:solidFill>
              <a:srgbClr val="69D38F"/>
            </a:solidFill>
            <a:prstDash val="solid"/>
            <a:headEnd type="none"/>
            <a:tailEnd type="none"/>
          </a:ln>
        </p:spPr>
      </p:sp>
      <p:sp>
        <p:nvSpPr>
          <p:cNvPr id="5" name="Text 2"/>
          <p:cNvSpPr/>
          <p:nvPr/>
        </p:nvSpPr>
        <p:spPr>
          <a:xfrm>
            <a:off x="685800" y="1198712"/>
            <a:ext cx="730876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Agenda un </a:t>
            </a:r>
            <a:r>
              <a:rPr lang="es-MX" sz="3400" b="1" noProof="0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diagnóstico</a:t>
            </a:r>
            <a:r>
              <a:rPr lang="en-US" sz="3400" b="1" dirty="0">
                <a:solidFill>
                  <a:srgbClr val="F8F6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con nosotros.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694944" y="2546604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BDEECF"/>
                </a:solidFill>
              </a:rPr>
              <a:t>Identificamos el proceso con mayor oportunidad de automatización, trazabilidad o visualización de datos.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94944" y="3977640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202C27"/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04672" y="4037076"/>
            <a:ext cx="1380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40" b="1" dirty="0">
                <a:solidFill>
                  <a:srgbClr val="F8F6EF"/>
                </a:solidFill>
              </a:rPr>
              <a:t>8117924772</a:t>
            </a:r>
            <a:endParaRPr lang="en-US" sz="1040" dirty="0"/>
          </a:p>
        </p:txBody>
      </p:sp>
      <p:sp>
        <p:nvSpPr>
          <p:cNvPr id="12" name="Shape 8"/>
          <p:cNvSpPr/>
          <p:nvPr/>
        </p:nvSpPr>
        <p:spPr>
          <a:xfrm>
            <a:off x="2487168" y="3977640"/>
            <a:ext cx="2331720" cy="329184"/>
          </a:xfrm>
          <a:prstGeom prst="roundRect">
            <a:avLst>
              <a:gd name="adj" fmla="val 22222"/>
            </a:avLst>
          </a:prstGeom>
          <a:solidFill>
            <a:srgbClr val="202C27"/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596896" y="4037076"/>
            <a:ext cx="211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40" b="1" dirty="0">
                <a:solidFill>
                  <a:srgbClr val="F8F6EF"/>
                </a:solidFill>
              </a:rPr>
              <a:t>contacto@interdato.com</a:t>
            </a:r>
            <a:endParaRPr lang="en-US" sz="1040" dirty="0"/>
          </a:p>
        </p:txBody>
      </p:sp>
      <p:sp>
        <p:nvSpPr>
          <p:cNvPr id="14" name="Shape 10"/>
          <p:cNvSpPr/>
          <p:nvPr/>
        </p:nvSpPr>
        <p:spPr>
          <a:xfrm>
            <a:off x="694944" y="4443984"/>
            <a:ext cx="2011680" cy="329184"/>
          </a:xfrm>
          <a:prstGeom prst="roundRect">
            <a:avLst>
              <a:gd name="adj" fmla="val 22222"/>
            </a:avLst>
          </a:prstGeom>
          <a:solidFill>
            <a:srgbClr val="69D38F"/>
          </a:solidFill>
          <a:ln w="12700">
            <a:solidFill>
              <a:srgbClr val="69D38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04672" y="4503420"/>
            <a:ext cx="1792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40" b="1" dirty="0">
                <a:solidFill>
                  <a:srgbClr val="081512"/>
                </a:solidFill>
              </a:rPr>
              <a:t>www.interdato.com</a:t>
            </a:r>
            <a:endParaRPr lang="en-US" sz="1040" dirty="0"/>
          </a:p>
        </p:txBody>
      </p:sp>
      <p:sp>
        <p:nvSpPr>
          <p:cNvPr id="16" name="Text 12"/>
          <p:cNvSpPr/>
          <p:nvPr/>
        </p:nvSpPr>
        <p:spPr>
          <a:xfrm>
            <a:off x="685800" y="626364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9FB7A8"/>
                </a:solidFill>
              </a:rPr>
              <a:t>Interdato · Soluciones </a:t>
            </a:r>
            <a:r>
              <a:rPr lang="en-US" sz="1030" dirty="0" err="1">
                <a:solidFill>
                  <a:srgbClr val="9FB7A8"/>
                </a:solidFill>
              </a:rPr>
              <a:t>digitales</a:t>
            </a:r>
            <a:r>
              <a:rPr lang="en-US" sz="1030" dirty="0">
                <a:solidFill>
                  <a:srgbClr val="9FB7A8"/>
                </a:solidFill>
              </a:rPr>
              <a:t> a la </a:t>
            </a:r>
            <a:r>
              <a:rPr lang="en-US" sz="1030" dirty="0" err="1">
                <a:solidFill>
                  <a:srgbClr val="9FB7A8"/>
                </a:solidFill>
              </a:rPr>
              <a:t>medida</a:t>
            </a:r>
            <a:r>
              <a:rPr lang="en-US" sz="1030" dirty="0">
                <a:solidFill>
                  <a:srgbClr val="9FB7A8"/>
                </a:solidFill>
              </a:rPr>
              <a:t>.</a:t>
            </a:r>
            <a:endParaRPr lang="en-US" sz="10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769</Words>
  <Application>Microsoft Office PowerPoint</Application>
  <PresentationFormat>Widescreen</PresentationFormat>
  <Paragraphs>141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Interdato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Interdato | Servicios de TI para logística y transporte</dc:title>
  <dc:subject>Servicios de TI para logística y transporte</dc:subject>
  <dc:creator>Interdato</dc:creator>
  <cp:lastModifiedBy>SERGIO ANTONIO GONZALEZ FORSECK</cp:lastModifiedBy>
  <cp:revision>2</cp:revision>
  <dcterms:created xsi:type="dcterms:W3CDTF">2026-05-12T20:12:45Z</dcterms:created>
  <dcterms:modified xsi:type="dcterms:W3CDTF">2026-05-12T21:34:24Z</dcterms:modified>
</cp:coreProperties>
</file>